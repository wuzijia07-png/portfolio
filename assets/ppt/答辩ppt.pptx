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6C1"/>
    <a:srgbClr val="EDF4E6"/>
    <a:srgbClr val="F5F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4" Type="http://schemas.openxmlformats.org/officeDocument/2006/relationships/notesSlide" Target="../notesSlides/notesSlide5.xm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5.jpeg"/><Relationship Id="rId31" Type="http://schemas.openxmlformats.org/officeDocument/2006/relationships/tags" Target="../tags/tag29.xml"/><Relationship Id="rId30" Type="http://schemas.openxmlformats.org/officeDocument/2006/relationships/image" Target="../media/image4.jpeg"/><Relationship Id="rId3" Type="http://schemas.openxmlformats.org/officeDocument/2006/relationships/tags" Target="../tags/tag4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image" Target="../media/image3.jpeg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3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image" Target="../media/image2.jpeg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3" Type="http://schemas.openxmlformats.org/officeDocument/2006/relationships/notesSlide" Target="../notesSlides/notesSlide6.xml"/><Relationship Id="rId32" Type="http://schemas.openxmlformats.org/officeDocument/2006/relationships/slideLayout" Target="../slideLayouts/slideLayout1.xml"/><Relationship Id="rId31" Type="http://schemas.openxmlformats.org/officeDocument/2006/relationships/image" Target="../media/image9.jpeg"/><Relationship Id="rId30" Type="http://schemas.openxmlformats.org/officeDocument/2006/relationships/image" Target="../media/image8.jpeg"/><Relationship Id="rId3" Type="http://schemas.openxmlformats.org/officeDocument/2006/relationships/tags" Target="../tags/tag32.xml"/><Relationship Id="rId29" Type="http://schemas.openxmlformats.org/officeDocument/2006/relationships/tags" Target="../tags/tag56.xml"/><Relationship Id="rId28" Type="http://schemas.openxmlformats.org/officeDocument/2006/relationships/tags" Target="../tags/tag55.xml"/><Relationship Id="rId27" Type="http://schemas.openxmlformats.org/officeDocument/2006/relationships/tags" Target="../tags/tag54.xml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image" Target="../media/image7.jpeg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tags" Target="../tags/tag31.xml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image" Target="../media/image6.jpeg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D0E6C1"/>
          </a:solidFill>
          <a:ln w="12700">
            <a:solidFill>
              <a:schemeClr val="accent6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EDF4E6">
              <a:alpha val="30000"/>
            </a:srgbClr>
          </a:solidFill>
          <a:ln w="12700">
            <a:solidFill>
              <a:schemeClr val="accent6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4206240"/>
            <a:ext cx="502920" cy="502920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3657600"/>
            <a:ext cx="320040" cy="320040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4297680"/>
            <a:ext cx="228600" cy="228600"/>
          </a:xfrm>
          <a:prstGeom prst="ellipse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基于STM32智能茶台系统设计</a:t>
            </a:r>
            <a:endParaRPr lang="en-US" sz="3400" b="1" dirty="0">
              <a:solidFill>
                <a:schemeClr val="accent4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783080" cy="384048"/>
          </a:xfrm>
          <a:prstGeom prst="roundRect">
            <a:avLst>
              <a:gd name="adj" fmla="val 47619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20000"/>
                <a:lumOff val="80000"/>
              </a:scheme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毕业设计答辩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4754880" cy="1828800"/>
          </a:xfrm>
          <a:prstGeom prst="roundRect">
            <a:avLst>
              <a:gd name="adj" fmla="val 7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7889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电子信息工程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18211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姓名：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31821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吴子嘉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357530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学号：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57530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202212270114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3968496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指导老师：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396849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方淡玉 讲师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广州航海学院  低空装备与智能控制学院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D7E2"/>
          </a:solidFill>
          <a:ln w="12700">
            <a:solidFill>
              <a:srgbClr val="FAD7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256032"/>
            <a:ext cx="201168" cy="201168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82128" y="256032"/>
            <a:ext cx="201168" cy="201168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4736" y="256032"/>
            <a:ext cx="201168" cy="201168"/>
          </a:xfrm>
          <a:prstGeom prst="ellipse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7344" y="256032"/>
            <a:ext cx="201168" cy="201168"/>
          </a:xfrm>
          <a:prstGeom prst="ellipse">
            <a:avLst/>
          </a:prstGeom>
          <a:solidFill>
            <a:srgbClr val="F4A07A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59952" y="256032"/>
            <a:ext cx="201168" cy="201168"/>
          </a:xfrm>
          <a:prstGeom prst="ellipse">
            <a:avLst/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32688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EF0F4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051560"/>
            <a:ext cx="457200" cy="457200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987552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研究背景与意义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1298448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智能茶台的市场需求与研究价值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EEF9F5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856232"/>
            <a:ext cx="457200" cy="457200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1856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1792224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系统总体架构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2103120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核心控制器与各功能模块概览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42032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3F0FB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660904"/>
            <a:ext cx="457200" cy="457200"/>
          </a:xfrm>
          <a:prstGeom prst="ellipse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6609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0432" y="2596896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硬件模块设计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290779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传感器、执行机构与显示模块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46704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EF3EC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465576"/>
            <a:ext cx="457200" cy="457200"/>
          </a:xfrm>
          <a:prstGeom prst="ellipse">
            <a:avLst/>
          </a:prstGeom>
          <a:solidFill>
            <a:srgbClr val="F4A07A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655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3401568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软件设计与实现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3712464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程序流程与各模块控制逻辑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51376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EBF6FD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270248"/>
            <a:ext cx="457200" cy="457200"/>
          </a:xfrm>
          <a:prstGeom prst="ellipse">
            <a:avLst/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270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70432" y="4206240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系统测试与创新点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70432" y="4517136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功能验证与核心创新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AD7E2"/>
          </a:solidFill>
          <a:ln w="12700">
            <a:solidFill>
              <a:srgbClr val="FAD7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457200" cy="457200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841248"/>
            <a:ext cx="2633472" cy="1298448"/>
          </a:xfrm>
          <a:prstGeom prst="roundRect">
            <a:avLst>
              <a:gd name="adj" fmla="val 8451"/>
            </a:avLst>
          </a:prstGeom>
          <a:solidFill>
            <a:srgbClr val="FEF0F4"/>
          </a:solidFill>
          <a:ln w="19050">
            <a:solidFill>
              <a:srgbClr val="F2A7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96112"/>
            <a:ext cx="26334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7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$2667亿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1581912"/>
            <a:ext cx="26334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2025年全球茶叶市场规模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841248"/>
            <a:ext cx="2633472" cy="1298448"/>
          </a:xfrm>
          <a:prstGeom prst="roundRect">
            <a:avLst>
              <a:gd name="adj" fmla="val 8451"/>
            </a:avLst>
          </a:prstGeom>
          <a:solidFill>
            <a:srgbClr val="EEF9F5"/>
          </a:solidFill>
          <a:ln w="19050">
            <a:solidFill>
              <a:srgbClr val="7DC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896112"/>
            <a:ext cx="26334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DCF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$998亿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82112" y="1581912"/>
            <a:ext cx="26334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中国茶叶市场估值（全球最大）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16752" y="841248"/>
            <a:ext cx="2633472" cy="1298448"/>
          </a:xfrm>
          <a:prstGeom prst="roundRect">
            <a:avLst>
              <a:gd name="adj" fmla="val 8451"/>
            </a:avLst>
          </a:prstGeom>
          <a:solidFill>
            <a:srgbClr val="F3F0FB"/>
          </a:solidFill>
          <a:ln w="19050">
            <a:solidFill>
              <a:srgbClr val="A89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896112"/>
            <a:ext cx="26334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99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年轻化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16752" y="1581912"/>
            <a:ext cx="26334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饮茶人群呈显著年轻化趋势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345" y="2286000"/>
            <a:ext cx="2418080" cy="2560320"/>
          </a:xfrm>
          <a:prstGeom prst="roundRect">
            <a:avLst>
              <a:gd name="adj" fmla="val 4286"/>
            </a:avLst>
          </a:prstGeom>
          <a:solidFill>
            <a:srgbClr val="FEF0F4"/>
          </a:solidFill>
          <a:ln w="19050">
            <a:solidFill>
              <a:srgbClr val="F2A7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23774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7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现有痛点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182880" cy="182880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81635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功能单一，缺乏智能化集成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82880" cy="182880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27355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无自动投茶机制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82880" cy="182880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73075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缺少实时水质监控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82880" cy="182880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18795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控制方式粗放，精度低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54420" y="2275205"/>
            <a:ext cx="2495550" cy="2560320"/>
          </a:xfrm>
          <a:prstGeom prst="roundRect">
            <a:avLst>
              <a:gd name="adj" fmla="val 4286"/>
            </a:avLst>
          </a:prstGeom>
          <a:solidFill>
            <a:srgbClr val="EEF9F5"/>
          </a:solidFill>
          <a:ln w="19050">
            <a:solidFill>
              <a:srgbClr val="7DCF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741" y="2384933"/>
            <a:ext cx="384048" cy="384048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4185" y="2395855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CF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本文价值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46317" y="2869565"/>
            <a:ext cx="182880" cy="182880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535" y="283159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自动化泡茶全流程控制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46317" y="3326765"/>
            <a:ext cx="182880" cy="182880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535" y="327355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精准定量投茶 &amp; 定量加水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46317" y="3783965"/>
            <a:ext cx="182880" cy="182880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535" y="373075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实时水质与茶叶量监测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46317" y="4241165"/>
            <a:ext cx="182880" cy="182880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535" y="418795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闭环反馈，提升精度与安全</a:t>
            </a:r>
            <a:endParaRPr lang="en-US" sz="1200" dirty="0"/>
          </a:p>
        </p:txBody>
      </p:sp>
      <p:pic>
        <p:nvPicPr>
          <p:cNvPr id="37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3275330" y="2377440"/>
            <a:ext cx="2446655" cy="2446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3EDE2"/>
          </a:solidFill>
          <a:ln w="12700">
            <a:solidFill>
              <a:srgbClr val="C3ED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457200" cy="457200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337560" y="1874520"/>
            <a:ext cx="2468880" cy="1371600"/>
          </a:xfrm>
          <a:prstGeom prst="roundRect">
            <a:avLst>
              <a:gd name="adj" fmla="val 9333"/>
            </a:avLst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99339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STM32F103C8T6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239572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核心控制器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841248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FEFAE9"/>
          </a:solidFill>
          <a:ln w="19050">
            <a:solidFill>
              <a:srgbClr val="F5D7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41248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独立按键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用户控制输入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499616"/>
            <a:ext cx="0" cy="374904"/>
          </a:xfrm>
          <a:prstGeom prst="line">
            <a:avLst/>
          </a:prstGeom>
          <a:noFill/>
          <a:ln w="19050">
            <a:solidFill>
              <a:srgbClr val="F5D7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841248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EBF6FD"/>
          </a:solidFill>
          <a:ln w="19050">
            <a:solidFill>
              <a:srgbClr val="78C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88696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DS18B20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温度传感器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59152" y="1197864"/>
            <a:ext cx="978408" cy="0"/>
          </a:xfrm>
          <a:prstGeom prst="line">
            <a:avLst/>
          </a:prstGeom>
          <a:noFill/>
          <a:ln w="15240">
            <a:solidFill>
              <a:srgbClr val="78C5E8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256032" y="1664208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EBF6FD"/>
          </a:solidFill>
          <a:ln w="19050">
            <a:solidFill>
              <a:srgbClr val="78C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70992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HX711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称重模块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59152" y="2020824"/>
            <a:ext cx="978408" cy="0"/>
          </a:xfrm>
          <a:prstGeom prst="line">
            <a:avLst/>
          </a:prstGeom>
          <a:noFill/>
          <a:ln w="15240">
            <a:solidFill>
              <a:srgbClr val="78C5E8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256032" y="2487168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EBF6FD"/>
          </a:solidFill>
          <a:ln w="19050">
            <a:solidFill>
              <a:srgbClr val="78C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53288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TDS水质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检测模块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59152" y="2843784"/>
            <a:ext cx="978408" cy="0"/>
          </a:xfrm>
          <a:prstGeom prst="line">
            <a:avLst/>
          </a:prstGeom>
          <a:noFill/>
          <a:ln w="15240">
            <a:solidFill>
              <a:srgbClr val="78C5E8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256032" y="3310128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EBF6FD"/>
          </a:solidFill>
          <a:ln w="19050">
            <a:solidFill>
              <a:srgbClr val="78C5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35584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TCRT5000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红外传感器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V="1">
            <a:off x="2359025" y="3667125"/>
            <a:ext cx="2180590" cy="4445"/>
          </a:xfrm>
          <a:prstGeom prst="line">
            <a:avLst/>
          </a:prstGeom>
          <a:noFill/>
          <a:ln w="15240">
            <a:solidFill>
              <a:srgbClr val="78C5E8"/>
            </a:solidFill>
            <a:prstDash val="sysDash"/>
          </a:ln>
        </p:spPr>
      </p:sp>
      <p:sp>
        <p:nvSpPr>
          <p:cNvPr id="24" name="Text 22"/>
          <p:cNvSpPr/>
          <p:nvPr/>
        </p:nvSpPr>
        <p:spPr>
          <a:xfrm>
            <a:off x="256032" y="41330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8C5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传感器输入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84848" y="841248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FEF3EC"/>
          </a:solidFill>
          <a:ln w="19050">
            <a:solidFill>
              <a:srgbClr val="F4A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88696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OLED显示屏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IIC通信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1197864"/>
            <a:ext cx="978408" cy="0"/>
          </a:xfrm>
          <a:prstGeom prst="line">
            <a:avLst/>
          </a:prstGeom>
          <a:noFill/>
          <a:ln w="15240">
            <a:solidFill>
              <a:srgbClr val="F4A07A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6784848" y="1664208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FEF3EC"/>
          </a:solidFill>
          <a:ln w="19050">
            <a:solidFill>
              <a:srgbClr val="F4A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170992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SG90舵机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茶叶投放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2020824"/>
            <a:ext cx="978408" cy="0"/>
          </a:xfrm>
          <a:prstGeom prst="line">
            <a:avLst/>
          </a:prstGeom>
          <a:noFill/>
          <a:ln w="15240">
            <a:solidFill>
              <a:srgbClr val="F4A07A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6784848" y="2487168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FEF3EC"/>
          </a:solidFill>
          <a:ln w="19050">
            <a:solidFill>
              <a:srgbClr val="F4A0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253288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水泵模块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自动加水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2843784"/>
            <a:ext cx="978408" cy="0"/>
          </a:xfrm>
          <a:prstGeom prst="line">
            <a:avLst/>
          </a:prstGeom>
          <a:noFill/>
          <a:ln w="15240">
            <a:solidFill>
              <a:srgbClr val="F4A07A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6784848" y="3310128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FEF3EC"/>
          </a:solidFill>
          <a:ln w="19050">
            <a:solidFill>
              <a:srgbClr val="F4A0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335584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蜂鸣器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状态提示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69460" y="3666490"/>
            <a:ext cx="2195830" cy="635"/>
          </a:xfrm>
          <a:prstGeom prst="line">
            <a:avLst/>
          </a:prstGeom>
          <a:noFill/>
          <a:ln w="15240">
            <a:solidFill>
              <a:srgbClr val="F4A07A"/>
            </a:solidFill>
            <a:prstDash val="sysDash"/>
          </a:ln>
        </p:spPr>
      </p:sp>
      <p:sp>
        <p:nvSpPr>
          <p:cNvPr id="37" name="Text 35"/>
          <p:cNvSpPr/>
          <p:nvPr/>
        </p:nvSpPr>
        <p:spPr>
          <a:xfrm>
            <a:off x="6784848" y="41330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执行输出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37560" y="3794633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Keil5 开发环境</a:t>
            </a:r>
            <a:endParaRPr lang="en-US" sz="1400" b="1" dirty="0"/>
          </a:p>
        </p:txBody>
      </p:sp>
      <p:sp>
        <p:nvSpPr>
          <p:cNvPr id="39" name="Shape 21"/>
          <p:cNvSpPr/>
          <p:nvPr/>
        </p:nvSpPr>
        <p:spPr>
          <a:xfrm rot="16200000" flipV="1">
            <a:off x="4356100" y="3453765"/>
            <a:ext cx="427355" cy="635"/>
          </a:xfrm>
          <a:prstGeom prst="line">
            <a:avLst/>
          </a:prstGeom>
          <a:noFill/>
          <a:ln w="15240">
            <a:solidFill>
              <a:srgbClr val="78C5E8"/>
            </a:solidFill>
            <a:prstDash val="sys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6CEEE"/>
          </a:solidFill>
          <a:ln w="12700">
            <a:solidFill>
              <a:srgbClr val="D6CE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457200" cy="457200"/>
          </a:xfrm>
          <a:prstGeom prst="ellipse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硬件模块设计</a:t>
            </a:r>
            <a:endParaRPr lang="en-US" sz="24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56032" y="841248"/>
            <a:ext cx="4224528" cy="1920240"/>
          </a:xfrm>
          <a:prstGeom prst="roundRect">
            <a:avLst>
              <a:gd name="adj" fmla="val 5714"/>
            </a:avLst>
          </a:prstGeom>
          <a:solidFill>
            <a:srgbClr val="FEF0F4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56032" y="841248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2404872" y="841248"/>
            <a:ext cx="182880" cy="1920240"/>
          </a:xfrm>
          <a:prstGeom prst="rect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365760" y="97840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STM32F103C8T6</a:t>
            </a:r>
            <a:endParaRPr lang="en-US" sz="11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365760" y="1325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主控芯片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65760" y="175564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72MHz主频，丰富 ADC/USART/SPI/IIC 接口，协调所有模块协同工作</a:t>
            </a:r>
            <a:endParaRPr lang="en-US" sz="1050" dirty="0"/>
          </a:p>
        </p:txBody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4709160" y="841248"/>
            <a:ext cx="4224528" cy="1920240"/>
          </a:xfrm>
          <a:prstGeom prst="roundRect">
            <a:avLst>
              <a:gd name="adj" fmla="val 5714"/>
            </a:avLst>
          </a:prstGeom>
          <a:solidFill>
            <a:srgbClr val="EBF6FD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14" name="Shape 11"/>
          <p:cNvSpPr/>
          <p:nvPr>
            <p:custDataLst>
              <p:tags r:id="rId8"/>
            </p:custDataLst>
          </p:nvPr>
        </p:nvSpPr>
        <p:spPr>
          <a:xfrm>
            <a:off x="4709160" y="841248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15" name="Shape 12"/>
          <p:cNvSpPr/>
          <p:nvPr>
            <p:custDataLst>
              <p:tags r:id="rId9"/>
            </p:custDataLst>
          </p:nvPr>
        </p:nvSpPr>
        <p:spPr>
          <a:xfrm>
            <a:off x="6858000" y="841248"/>
            <a:ext cx="182880" cy="1920240"/>
          </a:xfrm>
          <a:prstGeom prst="rect">
            <a:avLst/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4818888" y="97840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DS18B20</a:t>
            </a:r>
            <a:endParaRPr lang="en-US" sz="1100" dirty="0"/>
          </a:p>
        </p:txBody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4818888" y="1325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温度传感器</a:t>
            </a:r>
            <a:endParaRPr lang="en-US" sz="1600" dirty="0"/>
          </a:p>
        </p:txBody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4818888" y="175564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实时采集水温，单总线通信，数据精准可靠</a:t>
            </a:r>
            <a:endParaRPr lang="en-US" sz="1050" dirty="0"/>
          </a:p>
        </p:txBody>
      </p:sp>
      <p:pic>
        <p:nvPicPr>
          <p:cNvPr id="19" name="Image 1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2736850" y="983488"/>
            <a:ext cx="1645920" cy="1645920"/>
          </a:xfrm>
          <a:prstGeom prst="rect">
            <a:avLst/>
          </a:prstGeom>
        </p:spPr>
      </p:pic>
      <p:sp>
        <p:nvSpPr>
          <p:cNvPr id="20" name="Shape 16"/>
          <p:cNvSpPr/>
          <p:nvPr>
            <p:custDataLst>
              <p:tags r:id="rId15"/>
            </p:custDataLst>
          </p:nvPr>
        </p:nvSpPr>
        <p:spPr>
          <a:xfrm>
            <a:off x="256032" y="2944368"/>
            <a:ext cx="4224528" cy="1920240"/>
          </a:xfrm>
          <a:prstGeom prst="roundRect">
            <a:avLst>
              <a:gd name="adj" fmla="val 5714"/>
            </a:avLst>
          </a:prstGeom>
          <a:solidFill>
            <a:srgbClr val="EEF9F5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1" name="Shape 17"/>
          <p:cNvSpPr/>
          <p:nvPr>
            <p:custDataLst>
              <p:tags r:id="rId16"/>
            </p:custDataLst>
          </p:nvPr>
        </p:nvSpPr>
        <p:spPr>
          <a:xfrm>
            <a:off x="256032" y="2944368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2" name="Shape 18"/>
          <p:cNvSpPr/>
          <p:nvPr>
            <p:custDataLst>
              <p:tags r:id="rId17"/>
            </p:custDataLst>
          </p:nvPr>
        </p:nvSpPr>
        <p:spPr>
          <a:xfrm>
            <a:off x="2404872" y="2944368"/>
            <a:ext cx="182880" cy="1920240"/>
          </a:xfrm>
          <a:prstGeom prst="rect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3" name="Text 19"/>
          <p:cNvSpPr/>
          <p:nvPr>
            <p:custDataLst>
              <p:tags r:id="rId18"/>
            </p:custDataLst>
          </p:nvPr>
        </p:nvSpPr>
        <p:spPr>
          <a:xfrm>
            <a:off x="365760" y="308152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TDS 模块</a:t>
            </a:r>
            <a:endParaRPr lang="en-US" sz="1100" dirty="0"/>
          </a:p>
        </p:txBody>
      </p:sp>
      <p:sp>
        <p:nvSpPr>
          <p:cNvPr id="24" name="Text 20"/>
          <p:cNvSpPr/>
          <p:nvPr>
            <p:custDataLst>
              <p:tags r:id="rId19"/>
            </p:custDataLst>
          </p:nvPr>
        </p:nvSpPr>
        <p:spPr>
          <a:xfrm>
            <a:off x="365760" y="34290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水质检测</a:t>
            </a:r>
            <a:endParaRPr lang="en-US" sz="1600" dirty="0"/>
          </a:p>
        </p:txBody>
      </p:sp>
      <p:sp>
        <p:nvSpPr>
          <p:cNvPr id="25" name="Text 21"/>
          <p:cNvSpPr/>
          <p:nvPr>
            <p:custDataLst>
              <p:tags r:id="rId20"/>
            </p:custDataLst>
          </p:nvPr>
        </p:nvSpPr>
        <p:spPr>
          <a:xfrm>
            <a:off x="365760" y="385876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实时监测水中的溶解固体（ppm），超阈值（≥300ppm）会自动</a:t>
            </a:r>
            <a:r>
              <a:rPr lang="zh-CN" alt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</a:t>
            </a:r>
            <a:r>
              <a:rPr lang="en-US" altLang="zh-CN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oled</a:t>
            </a:r>
            <a:r>
              <a:rPr lang="zh-CN" alt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显示屏进行</a:t>
            </a: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</a:t>
            </a:r>
            <a:endParaRPr lang="en-US" sz="1050" dirty="0"/>
          </a:p>
        </p:txBody>
      </p:sp>
      <p:pic>
        <p:nvPicPr>
          <p:cNvPr id="26" name="Image 2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rcRect/>
          <a:stretch>
            <a:fillRect/>
          </a:stretch>
        </p:blipFill>
        <p:spPr>
          <a:xfrm>
            <a:off x="2679192" y="3081528"/>
            <a:ext cx="1645920" cy="1645920"/>
          </a:xfrm>
          <a:prstGeom prst="rect">
            <a:avLst/>
          </a:prstGeom>
        </p:spPr>
      </p:pic>
      <p:sp>
        <p:nvSpPr>
          <p:cNvPr id="27" name="Shape 22"/>
          <p:cNvSpPr/>
          <p:nvPr>
            <p:custDataLst>
              <p:tags r:id="rId23"/>
            </p:custDataLst>
          </p:nvPr>
        </p:nvSpPr>
        <p:spPr>
          <a:xfrm>
            <a:off x="4709160" y="2944368"/>
            <a:ext cx="4224528" cy="1920240"/>
          </a:xfrm>
          <a:prstGeom prst="roundRect">
            <a:avLst>
              <a:gd name="adj" fmla="val 5714"/>
            </a:avLst>
          </a:prstGeom>
          <a:solidFill>
            <a:srgbClr val="F3F0FB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28" name="Shape 23"/>
          <p:cNvSpPr/>
          <p:nvPr>
            <p:custDataLst>
              <p:tags r:id="rId24"/>
            </p:custDataLst>
          </p:nvPr>
        </p:nvSpPr>
        <p:spPr>
          <a:xfrm>
            <a:off x="4709160" y="2944368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29" name="Shape 24"/>
          <p:cNvSpPr/>
          <p:nvPr>
            <p:custDataLst>
              <p:tags r:id="rId25"/>
            </p:custDataLst>
          </p:nvPr>
        </p:nvSpPr>
        <p:spPr>
          <a:xfrm>
            <a:off x="6858000" y="2944368"/>
            <a:ext cx="182880" cy="1920240"/>
          </a:xfrm>
          <a:prstGeom prst="rect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30" name="Text 25"/>
          <p:cNvSpPr/>
          <p:nvPr>
            <p:custDataLst>
              <p:tags r:id="rId26"/>
            </p:custDataLst>
          </p:nvPr>
        </p:nvSpPr>
        <p:spPr>
          <a:xfrm>
            <a:off x="4818888" y="308152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TCRT5000</a:t>
            </a:r>
            <a:endParaRPr lang="en-US" sz="1100" dirty="0"/>
          </a:p>
        </p:txBody>
      </p:sp>
      <p:sp>
        <p:nvSpPr>
          <p:cNvPr id="31" name="Text 26"/>
          <p:cNvSpPr/>
          <p:nvPr>
            <p:custDataLst>
              <p:tags r:id="rId27"/>
            </p:custDataLst>
          </p:nvPr>
        </p:nvSpPr>
        <p:spPr>
          <a:xfrm>
            <a:off x="4818888" y="34290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红外传感器</a:t>
            </a:r>
            <a:endParaRPr lang="en-US" sz="1600" dirty="0"/>
          </a:p>
        </p:txBody>
      </p:sp>
      <p:sp>
        <p:nvSpPr>
          <p:cNvPr id="32" name="Text 27"/>
          <p:cNvSpPr/>
          <p:nvPr>
            <p:custDataLst>
              <p:tags r:id="rId28"/>
            </p:custDataLst>
          </p:nvPr>
        </p:nvSpPr>
        <p:spPr>
          <a:xfrm>
            <a:off x="4818888" y="385876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遮挡式检测茶仓余量，茶叶不足自动报警</a:t>
            </a:r>
            <a:endParaRPr lang="en-US" sz="1050" dirty="0"/>
          </a:p>
        </p:txBody>
      </p:sp>
      <p:pic>
        <p:nvPicPr>
          <p:cNvPr id="33" name="Image 3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rcRect b="13657"/>
          <a:stretch>
            <a:fillRect/>
          </a:stretch>
        </p:blipFill>
        <p:spPr>
          <a:xfrm>
            <a:off x="7132320" y="1127125"/>
            <a:ext cx="1645920" cy="1421130"/>
          </a:xfrm>
          <a:prstGeom prst="rect">
            <a:avLst/>
          </a:prstGeom>
        </p:spPr>
      </p:pic>
      <p:pic>
        <p:nvPicPr>
          <p:cNvPr id="34" name="Image 0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rcRect/>
          <a:stretch>
            <a:fillRect/>
          </a:stretch>
        </p:blipFill>
        <p:spPr>
          <a:xfrm>
            <a:off x="7163562" y="3081528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6CEEE"/>
          </a:solidFill>
          <a:ln w="12700">
            <a:solidFill>
              <a:srgbClr val="D6CE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457200" cy="457200"/>
          </a:xfrm>
          <a:prstGeom prst="ellipse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硬件模块设计</a:t>
            </a:r>
            <a:endParaRPr lang="en-US" sz="24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56032" y="841248"/>
            <a:ext cx="4224528" cy="1920240"/>
          </a:xfrm>
          <a:prstGeom prst="roundRect">
            <a:avLst>
              <a:gd name="adj" fmla="val 5714"/>
            </a:avLst>
          </a:prstGeom>
          <a:solidFill>
            <a:srgbClr val="FEF3EC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56032" y="841248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4A07A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2404872" y="841248"/>
            <a:ext cx="182880" cy="1920240"/>
          </a:xfrm>
          <a:prstGeom prst="rect">
            <a:avLst/>
          </a:prstGeom>
          <a:solidFill>
            <a:srgbClr val="F4A07A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365760" y="97840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HX711</a:t>
            </a:r>
            <a:endParaRPr lang="en-US" sz="11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365760" y="1325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称重模块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65760" y="175564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实现闭环控制茶叶的投放量和定量的加水，提高整个系统的精度</a:t>
            </a:r>
            <a:endParaRPr lang="en-US" sz="1050" dirty="0"/>
          </a:p>
        </p:txBody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4709160" y="841248"/>
            <a:ext cx="4224528" cy="1920240"/>
          </a:xfrm>
          <a:prstGeom prst="roundRect">
            <a:avLst>
              <a:gd name="adj" fmla="val 5714"/>
            </a:avLst>
          </a:prstGeom>
          <a:solidFill>
            <a:srgbClr val="EBF6FD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14" name="Shape 11"/>
          <p:cNvSpPr/>
          <p:nvPr>
            <p:custDataLst>
              <p:tags r:id="rId8"/>
            </p:custDataLst>
          </p:nvPr>
        </p:nvSpPr>
        <p:spPr>
          <a:xfrm>
            <a:off x="4709160" y="841248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15" name="Shape 12"/>
          <p:cNvSpPr/>
          <p:nvPr>
            <p:custDataLst>
              <p:tags r:id="rId9"/>
            </p:custDataLst>
          </p:nvPr>
        </p:nvSpPr>
        <p:spPr>
          <a:xfrm>
            <a:off x="6858000" y="841248"/>
            <a:ext cx="182880" cy="1920240"/>
          </a:xfrm>
          <a:prstGeom prst="rect">
            <a:avLst/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4818888" y="97840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水泵</a:t>
            </a:r>
            <a:endParaRPr lang="en-US" sz="1100" dirty="0"/>
          </a:p>
        </p:txBody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4818888" y="1325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水泵模块</a:t>
            </a:r>
            <a:endParaRPr lang="en-US" sz="1600" dirty="0"/>
          </a:p>
        </p:txBody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4818888" y="175564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IO 高电平方式输入，进行自动投水</a:t>
            </a:r>
            <a:endParaRPr lang="en-US" sz="1050" dirty="0"/>
          </a:p>
        </p:txBody>
      </p:sp>
      <p:pic>
        <p:nvPicPr>
          <p:cNvPr id="19" name="Image 1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2679065" y="1014603"/>
            <a:ext cx="1645920" cy="1645920"/>
          </a:xfrm>
          <a:prstGeom prst="rect">
            <a:avLst/>
          </a:prstGeom>
        </p:spPr>
      </p:pic>
      <p:sp>
        <p:nvSpPr>
          <p:cNvPr id="20" name="Shape 16"/>
          <p:cNvSpPr/>
          <p:nvPr>
            <p:custDataLst>
              <p:tags r:id="rId15"/>
            </p:custDataLst>
          </p:nvPr>
        </p:nvSpPr>
        <p:spPr>
          <a:xfrm>
            <a:off x="256032" y="2944368"/>
            <a:ext cx="4224528" cy="1920240"/>
          </a:xfrm>
          <a:prstGeom prst="roundRect">
            <a:avLst>
              <a:gd name="adj" fmla="val 5714"/>
            </a:avLst>
          </a:prstGeom>
          <a:solidFill>
            <a:srgbClr val="EEF9F5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1" name="Shape 17"/>
          <p:cNvSpPr/>
          <p:nvPr>
            <p:custDataLst>
              <p:tags r:id="rId16"/>
            </p:custDataLst>
          </p:nvPr>
        </p:nvSpPr>
        <p:spPr>
          <a:xfrm>
            <a:off x="256032" y="2944368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2" name="Shape 18"/>
          <p:cNvSpPr/>
          <p:nvPr>
            <p:custDataLst>
              <p:tags r:id="rId17"/>
            </p:custDataLst>
          </p:nvPr>
        </p:nvSpPr>
        <p:spPr>
          <a:xfrm>
            <a:off x="2404872" y="2944368"/>
            <a:ext cx="182880" cy="1920240"/>
          </a:xfrm>
          <a:prstGeom prst="rect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3" name="Text 19"/>
          <p:cNvSpPr/>
          <p:nvPr>
            <p:custDataLst>
              <p:tags r:id="rId18"/>
            </p:custDataLst>
          </p:nvPr>
        </p:nvSpPr>
        <p:spPr>
          <a:xfrm>
            <a:off x="365760" y="308152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SG90 舵机</a:t>
            </a:r>
            <a:endParaRPr lang="en-US" sz="1100" dirty="0"/>
          </a:p>
        </p:txBody>
      </p:sp>
      <p:sp>
        <p:nvSpPr>
          <p:cNvPr id="24" name="Text 20"/>
          <p:cNvSpPr/>
          <p:nvPr>
            <p:custDataLst>
              <p:tags r:id="rId19"/>
            </p:custDataLst>
          </p:nvPr>
        </p:nvSpPr>
        <p:spPr>
          <a:xfrm>
            <a:off x="365760" y="34290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茶叶投放</a:t>
            </a:r>
            <a:endParaRPr lang="en-US" sz="1600" dirty="0"/>
          </a:p>
        </p:txBody>
      </p:sp>
      <p:sp>
        <p:nvSpPr>
          <p:cNvPr id="25" name="Text 21"/>
          <p:cNvSpPr/>
          <p:nvPr>
            <p:custDataLst>
              <p:tags r:id="rId20"/>
            </p:custDataLst>
          </p:nvPr>
        </p:nvSpPr>
        <p:spPr>
          <a:xfrm>
            <a:off x="365760" y="385876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模拟茶仓的开关闸门，旋转 15° 执行精准投茶，达重量后自动复位</a:t>
            </a:r>
            <a:endParaRPr lang="en-US" sz="1050" dirty="0"/>
          </a:p>
        </p:txBody>
      </p:sp>
      <p:pic>
        <p:nvPicPr>
          <p:cNvPr id="26" name="Image 2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rcRect/>
          <a:stretch>
            <a:fillRect/>
          </a:stretch>
        </p:blipFill>
        <p:spPr>
          <a:xfrm>
            <a:off x="2679192" y="3081528"/>
            <a:ext cx="1645920" cy="1645920"/>
          </a:xfrm>
          <a:prstGeom prst="rect">
            <a:avLst/>
          </a:prstGeom>
        </p:spPr>
      </p:pic>
      <p:sp>
        <p:nvSpPr>
          <p:cNvPr id="27" name="Shape 22"/>
          <p:cNvSpPr/>
          <p:nvPr>
            <p:custDataLst>
              <p:tags r:id="rId23"/>
            </p:custDataLst>
          </p:nvPr>
        </p:nvSpPr>
        <p:spPr>
          <a:xfrm>
            <a:off x="4709160" y="2944368"/>
            <a:ext cx="4224528" cy="1920240"/>
          </a:xfrm>
          <a:prstGeom prst="roundRect">
            <a:avLst>
              <a:gd name="adj" fmla="val 5714"/>
            </a:avLst>
          </a:prstGeom>
          <a:solidFill>
            <a:srgbClr val="F3F0FB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28" name="Shape 23"/>
          <p:cNvSpPr/>
          <p:nvPr>
            <p:custDataLst>
              <p:tags r:id="rId24"/>
            </p:custDataLst>
          </p:nvPr>
        </p:nvSpPr>
        <p:spPr>
          <a:xfrm>
            <a:off x="4709160" y="2944368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29" name="Shape 24"/>
          <p:cNvSpPr/>
          <p:nvPr>
            <p:custDataLst>
              <p:tags r:id="rId25"/>
            </p:custDataLst>
          </p:nvPr>
        </p:nvSpPr>
        <p:spPr>
          <a:xfrm>
            <a:off x="6858000" y="2944368"/>
            <a:ext cx="182880" cy="1920240"/>
          </a:xfrm>
          <a:prstGeom prst="rect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30" name="Text 25"/>
          <p:cNvSpPr/>
          <p:nvPr>
            <p:custDataLst>
              <p:tags r:id="rId26"/>
            </p:custDataLst>
          </p:nvPr>
        </p:nvSpPr>
        <p:spPr>
          <a:xfrm>
            <a:off x="4818888" y="308152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OLED 显示屏幕</a:t>
            </a:r>
            <a:endParaRPr lang="en-US" sz="1100" dirty="0"/>
          </a:p>
        </p:txBody>
      </p:sp>
      <p:sp>
        <p:nvSpPr>
          <p:cNvPr id="31" name="Text 26"/>
          <p:cNvSpPr/>
          <p:nvPr>
            <p:custDataLst>
              <p:tags r:id="rId27"/>
            </p:custDataLst>
          </p:nvPr>
        </p:nvSpPr>
        <p:spPr>
          <a:xfrm>
            <a:off x="4818888" y="34290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OLED</a:t>
            </a:r>
            <a:endParaRPr lang="en-US" sz="1600" dirty="0"/>
          </a:p>
        </p:txBody>
      </p:sp>
      <p:sp>
        <p:nvSpPr>
          <p:cNvPr id="32" name="Text 27"/>
          <p:cNvSpPr/>
          <p:nvPr>
            <p:custDataLst>
              <p:tags r:id="rId28"/>
            </p:custDataLst>
          </p:nvPr>
        </p:nvSpPr>
        <p:spPr>
          <a:xfrm>
            <a:off x="4818888" y="385876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I2C 协议工作，在屏幕上实时显示水温、水质、重量以及状态</a:t>
            </a:r>
            <a:endParaRPr lang="en-US" sz="1050" dirty="0"/>
          </a:p>
        </p:txBody>
      </p:sp>
      <p:pic>
        <p:nvPicPr>
          <p:cNvPr id="33" name="Image 3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rcRect/>
          <a:stretch>
            <a:fillRect/>
          </a:stretch>
        </p:blipFill>
        <p:spPr>
          <a:xfrm>
            <a:off x="7132320" y="3081528"/>
            <a:ext cx="1645920" cy="1645920"/>
          </a:xfrm>
          <a:prstGeom prst="rect">
            <a:avLst/>
          </a:prstGeom>
        </p:spPr>
      </p:pic>
      <p:pic>
        <p:nvPicPr>
          <p:cNvPr id="57" name="图片 56"/>
          <p:cNvPicPr/>
          <p:nvPr/>
        </p:nvPicPr>
        <p:blipFill>
          <a:blip r:embed="rId31"/>
          <a:stretch>
            <a:fillRect/>
          </a:stretch>
        </p:blipFill>
        <p:spPr>
          <a:xfrm>
            <a:off x="7132320" y="1025525"/>
            <a:ext cx="1646555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AD4BC"/>
          </a:solidFill>
          <a:ln w="12700">
            <a:solidFill>
              <a:srgbClr val="FAD4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457200" cy="457200"/>
          </a:xfrm>
          <a:prstGeom prst="ellipse">
            <a:avLst/>
          </a:prstGeom>
          <a:solidFill>
            <a:srgbClr val="F4A07A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软件设计与实现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泡茶流程（用户按键触发后）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16152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16152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系统初始化 &amp; 待机监测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58568" y="1600200"/>
            <a:ext cx="0" cy="82296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682496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F4A07A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82496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用户按键 → 进入泡茶模式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58568" y="2066544"/>
            <a:ext cx="0" cy="82296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148840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148840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SG90 舵机旋转15° 投放茶叶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58568" y="2532888"/>
            <a:ext cx="0" cy="82296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615184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15184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HX711 检测茶叶重量 ≥ 10g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58568" y="2999232"/>
            <a:ext cx="0" cy="82296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081528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081528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舵机复位 → 启动水泵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58568" y="3465576"/>
            <a:ext cx="0" cy="82296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547872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547872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重量传感器监测加水量达标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58568" y="3931920"/>
            <a:ext cx="0" cy="82296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4014216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014216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关闭水泵 → 蜂鸣器提示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258568" y="4398264"/>
            <a:ext cx="0" cy="82296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4480560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80560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OLED 显示"泡茶完成"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63440" y="804672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各模块软件功能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216025"/>
            <a:ext cx="4217670" cy="5397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F2A7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216025"/>
            <a:ext cx="76200" cy="539750"/>
          </a:xfrm>
          <a:prstGeom prst="roundRect">
            <a:avLst>
              <a:gd name="adj" fmla="val 50000"/>
            </a:avLst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7905" y="1289050"/>
            <a:ext cx="385064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OLED 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27905" y="1532890"/>
            <a:ext cx="3850640" cy="222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IIC协议驱动，分区动态显示温度 / 重量 / 水质 / 步骤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84395" y="1830705"/>
            <a:ext cx="4196715" cy="554355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A899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3755" y="1830705"/>
            <a:ext cx="76200" cy="554355"/>
          </a:xfrm>
          <a:prstGeom prst="roundRect">
            <a:avLst>
              <a:gd name="adj" fmla="val 50000"/>
            </a:avLst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7585" y="1940560"/>
            <a:ext cx="386905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红外监测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07585" y="2163445"/>
            <a:ext cx="3959225" cy="229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待机状态持续检测茶叶量</a:t>
            </a: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是否低于刻度线</a:t>
            </a: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低于</a:t>
            </a: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则报警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2443480"/>
            <a:ext cx="4217670" cy="555625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78C5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443480"/>
            <a:ext cx="76200" cy="555625"/>
          </a:xfrm>
          <a:prstGeom prst="roundRect">
            <a:avLst>
              <a:gd name="adj" fmla="val 50000"/>
            </a:avLst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7905" y="2516505"/>
            <a:ext cx="3850640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水质监测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27905" y="2769870"/>
            <a:ext cx="3850640" cy="229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TDS值自动在 OLED 提示</a:t>
            </a: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，超过</a:t>
            </a:r>
            <a:r>
              <a:rPr lang="en-US" altLang="zh-CN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300ppm</a:t>
            </a: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则显示</a:t>
            </a:r>
            <a:r>
              <a:rPr 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水质有问题</a:t>
            </a:r>
            <a:endParaRPr lang="en-US" sz="1100" dirty="0"/>
          </a:p>
        </p:txBody>
      </p:sp>
      <p:sp>
        <p:nvSpPr>
          <p:cNvPr id="47" name="Shape 29"/>
          <p:cNvSpPr/>
          <p:nvPr/>
        </p:nvSpPr>
        <p:spPr>
          <a:xfrm>
            <a:off x="4663440" y="3099435"/>
            <a:ext cx="4217670" cy="5397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F2A7B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8" name="Shape 30"/>
          <p:cNvSpPr/>
          <p:nvPr/>
        </p:nvSpPr>
        <p:spPr>
          <a:xfrm>
            <a:off x="4663440" y="3099435"/>
            <a:ext cx="76200" cy="539750"/>
          </a:xfrm>
          <a:prstGeom prst="roundRect">
            <a:avLst>
              <a:gd name="adj" fmla="val 50000"/>
            </a:avLst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49" name="Text 31"/>
          <p:cNvSpPr/>
          <p:nvPr/>
        </p:nvSpPr>
        <p:spPr>
          <a:xfrm>
            <a:off x="4827905" y="3172460"/>
            <a:ext cx="385064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称重模块</a:t>
            </a:r>
            <a:endParaRPr lang="zh-CN" altLang="en-US" sz="1300" b="1" dirty="0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0" name="Text 32"/>
          <p:cNvSpPr/>
          <p:nvPr/>
        </p:nvSpPr>
        <p:spPr>
          <a:xfrm>
            <a:off x="4827905" y="3416300"/>
            <a:ext cx="3850640" cy="222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/>
              <a:t>以实测重量替代定时控制，实现精准定量投茶与</a:t>
            </a:r>
            <a:r>
              <a:rPr lang="zh-CN" altLang="en-US" sz="1100" dirty="0"/>
              <a:t>加水</a:t>
            </a:r>
            <a:endParaRPr lang="zh-CN" altLang="en-US" sz="1100" dirty="0"/>
          </a:p>
        </p:txBody>
      </p:sp>
      <p:sp>
        <p:nvSpPr>
          <p:cNvPr id="51" name="Shape 33"/>
          <p:cNvSpPr/>
          <p:nvPr/>
        </p:nvSpPr>
        <p:spPr>
          <a:xfrm>
            <a:off x="4683760" y="3723640"/>
            <a:ext cx="4237990" cy="554355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A899D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2" name="Shape 34"/>
          <p:cNvSpPr/>
          <p:nvPr/>
        </p:nvSpPr>
        <p:spPr>
          <a:xfrm>
            <a:off x="4683760" y="3723640"/>
            <a:ext cx="76835" cy="554355"/>
          </a:xfrm>
          <a:prstGeom prst="roundRect">
            <a:avLst>
              <a:gd name="adj" fmla="val 50000"/>
            </a:avLst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53" name="Text 35"/>
          <p:cNvSpPr/>
          <p:nvPr/>
        </p:nvSpPr>
        <p:spPr>
          <a:xfrm>
            <a:off x="4848225" y="3833495"/>
            <a:ext cx="386905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SG90</a:t>
            </a:r>
            <a:r>
              <a:rPr lang="zh-CN" altLang="en-US" sz="13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舵机</a:t>
            </a:r>
            <a:endParaRPr lang="zh-CN" altLang="en-US" sz="1300" b="1" dirty="0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4" name="Text 36"/>
          <p:cNvSpPr/>
          <p:nvPr/>
        </p:nvSpPr>
        <p:spPr>
          <a:xfrm>
            <a:off x="4848225" y="4056380"/>
            <a:ext cx="3869055" cy="229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模拟茶仓开关闸门，当用户按下按键之后舵机转动会投放</a:t>
            </a: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茶叶</a:t>
            </a:r>
            <a:endParaRPr lang="zh-CN" altLang="en-US" sz="1100" dirty="0">
              <a:solidFill>
                <a:srgbClr val="6E6E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5" name="Shape 37"/>
          <p:cNvSpPr/>
          <p:nvPr/>
        </p:nvSpPr>
        <p:spPr>
          <a:xfrm>
            <a:off x="4702175" y="4407535"/>
            <a:ext cx="4217670" cy="555625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78C5E8"/>
            </a:solidFill>
            <a:prstDash val="solid"/>
          </a:ln>
        </p:spPr>
      </p:sp>
      <p:sp>
        <p:nvSpPr>
          <p:cNvPr id="56" name="Shape 38"/>
          <p:cNvSpPr/>
          <p:nvPr/>
        </p:nvSpPr>
        <p:spPr>
          <a:xfrm>
            <a:off x="4702175" y="4407535"/>
            <a:ext cx="76200" cy="555625"/>
          </a:xfrm>
          <a:prstGeom prst="roundRect">
            <a:avLst>
              <a:gd name="adj" fmla="val 50000"/>
            </a:avLst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57" name="Text 39"/>
          <p:cNvSpPr/>
          <p:nvPr/>
        </p:nvSpPr>
        <p:spPr>
          <a:xfrm>
            <a:off x="4866640" y="4480560"/>
            <a:ext cx="3850640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水泵</a:t>
            </a:r>
            <a:endParaRPr lang="zh-CN" altLang="en-US" sz="1300" b="1" dirty="0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8" name="Text 40"/>
          <p:cNvSpPr/>
          <p:nvPr/>
        </p:nvSpPr>
        <p:spPr>
          <a:xfrm>
            <a:off x="4866640" y="4733925"/>
            <a:ext cx="3850640" cy="229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高电平输入，当茶叶投放结束，水泵</a:t>
            </a: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则打开，进行</a:t>
            </a:r>
            <a:r>
              <a:rPr lang="zh-CN" altLang="en-US" sz="11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定量加水</a:t>
            </a:r>
            <a:endParaRPr lang="zh-CN" altLang="en-US" sz="1100" dirty="0">
              <a:solidFill>
                <a:srgbClr val="6E6E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E4F5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457200" cy="457200"/>
          </a:xfrm>
          <a:prstGeom prst="ellipse">
            <a:avLst/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系统测试与创新点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C5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功能测试验证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16152"/>
            <a:ext cx="4773168" cy="384048"/>
          </a:xfrm>
          <a:prstGeom prst="roundRect">
            <a:avLst>
              <a:gd name="adj" fmla="val 14286"/>
            </a:avLst>
          </a:prstGeom>
          <a:solidFill>
            <a:srgbClr val="EBF6FD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1307592"/>
            <a:ext cx="210312" cy="21031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98448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2161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OLED 显示模块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1408" y="12161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主界面 / 泡茶各状态正常切换显示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1673352"/>
            <a:ext cx="47731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" y="1764792"/>
            <a:ext cx="210312" cy="21031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755648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16733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HX711 称重模块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16733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茶叶定量 10g 投放，定量加水控制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130552"/>
            <a:ext cx="4773168" cy="384048"/>
          </a:xfrm>
          <a:prstGeom prst="roundRect">
            <a:avLst>
              <a:gd name="adj" fmla="val 14286"/>
            </a:avLst>
          </a:prstGeom>
          <a:solidFill>
            <a:srgbClr val="EBF6FD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" y="2221992"/>
            <a:ext cx="210312" cy="21031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212848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" y="21305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SG90 舵机控制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21408" y="21305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触发后平稳旋转 15°，达重自动复位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587752"/>
            <a:ext cx="47731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" y="2679192"/>
            <a:ext cx="210312" cy="21031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2670048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25877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DS18B20 温度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21408" y="25877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实时温度采集，OLED 动态更新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3044952"/>
            <a:ext cx="4773168" cy="384048"/>
          </a:xfrm>
          <a:prstGeom prst="roundRect">
            <a:avLst>
              <a:gd name="adj" fmla="val 14286"/>
            </a:avLst>
          </a:prstGeom>
          <a:solidFill>
            <a:srgbClr val="EBF6FD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" y="3136392"/>
            <a:ext cx="210312" cy="21031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3127248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" y="30449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TDS 水质检测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21408" y="30449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超阈值自动oled</a:t>
            </a:r>
            <a:r>
              <a:rPr lang="zh-CN" alt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显示问题状态</a:t>
            </a: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，状态判断准确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3502152"/>
            <a:ext cx="47731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" y="3593592"/>
            <a:ext cx="210312" cy="21031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584448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" y="35021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红外茶叶监测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21408" y="35021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无遮挡时触发报警，按键可复位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" y="3959352"/>
            <a:ext cx="4773168" cy="384048"/>
          </a:xfrm>
          <a:prstGeom prst="roundRect">
            <a:avLst>
              <a:gd name="adj" fmla="val 14286"/>
            </a:avLst>
          </a:prstGeom>
          <a:solidFill>
            <a:srgbClr val="EBF6FD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" y="4050792"/>
            <a:ext cx="210312" cy="21031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4041648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" y="39593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水泵控制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21408" y="39593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重量闭环控制定量加水，误差小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93792" y="804672"/>
            <a:ext cx="3675888" cy="4069080"/>
          </a:xfrm>
          <a:prstGeom prst="roundRect">
            <a:avLst>
              <a:gd name="adj" fmla="val 3483"/>
            </a:avLst>
          </a:prstGeom>
          <a:solidFill>
            <a:srgbClr val="FEF0F4"/>
          </a:solidFill>
          <a:ln w="19050">
            <a:solidFill>
              <a:srgbClr val="F2A7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21808" y="868680"/>
            <a:ext cx="347472" cy="347472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8686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7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核心创新点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321808" y="1371600"/>
            <a:ext cx="33832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94960" y="1481328"/>
            <a:ext cx="347472" cy="347472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0" y="14813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33872" y="144475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称重闭环控制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33872" y="1755648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以实测重量替代定时控制，实现精准定量投茶与加水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321808" y="2514600"/>
            <a:ext cx="33832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94960" y="2624328"/>
            <a:ext cx="347472" cy="34747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26243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833872" y="258775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水质实时监控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833872" y="2898648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系统集成TDS 传感器，使得泡茶安全性得到全面保障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321808" y="3657600"/>
            <a:ext cx="33832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94960" y="3767328"/>
            <a:ext cx="347472" cy="347472"/>
          </a:xfrm>
          <a:prstGeom prst="ellipse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37673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833872" y="373075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红外检测茶仓茶叶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833872" y="4041648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系统集红外模块，对茶仓内的茶叶进行实时监测，保障茶叶量充足</a:t>
            </a:r>
            <a:endParaRPr lang="en-US" sz="1400" dirty="0"/>
          </a:p>
        </p:txBody>
      </p:sp>
      <p:sp>
        <p:nvSpPr>
          <p:cNvPr id="60" name="Shape 35"/>
          <p:cNvSpPr/>
          <p:nvPr/>
        </p:nvSpPr>
        <p:spPr>
          <a:xfrm>
            <a:off x="256032" y="4470527"/>
            <a:ext cx="4773168" cy="384048"/>
          </a:xfrm>
          <a:prstGeom prst="roundRect">
            <a:avLst>
              <a:gd name="adj" fmla="val 14286"/>
            </a:avLst>
          </a:prstGeom>
          <a:solidFill>
            <a:srgbClr val="EBF6FD"/>
          </a:solidFill>
          <a:ln w="12700">
            <a:solidFill>
              <a:srgbClr val="C0E4F5"/>
            </a:solidFill>
            <a:prstDash val="solid"/>
          </a:ln>
        </p:spPr>
      </p:sp>
      <p:sp>
        <p:nvSpPr>
          <p:cNvPr id="61" name="Shape 36"/>
          <p:cNvSpPr/>
          <p:nvPr/>
        </p:nvSpPr>
        <p:spPr>
          <a:xfrm>
            <a:off x="329184" y="4561967"/>
            <a:ext cx="210312" cy="21031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62" name="Text 37"/>
          <p:cNvSpPr/>
          <p:nvPr/>
        </p:nvSpPr>
        <p:spPr>
          <a:xfrm>
            <a:off x="329184" y="4552823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63" name="Text 38"/>
          <p:cNvSpPr/>
          <p:nvPr/>
        </p:nvSpPr>
        <p:spPr>
          <a:xfrm>
            <a:off x="621792" y="4470527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蜂鸣器</a:t>
            </a:r>
            <a:r>
              <a:rPr lang="en-US" sz="1100" b="1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</a:t>
            </a:r>
            <a:endParaRPr lang="en-US" sz="1100" dirty="0"/>
          </a:p>
        </p:txBody>
      </p:sp>
      <p:sp>
        <p:nvSpPr>
          <p:cNvPr id="64" name="Text 39"/>
          <p:cNvSpPr/>
          <p:nvPr/>
        </p:nvSpPr>
        <p:spPr>
          <a:xfrm>
            <a:off x="2121408" y="4470527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茶叶不足和泡茶完成后，都会发出</a:t>
            </a:r>
            <a:r>
              <a:rPr lang="zh-CN" altLang="en-US" sz="1050" dirty="0">
                <a:solidFill>
                  <a:srgbClr val="6E6E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警报</a:t>
            </a:r>
            <a:endParaRPr lang="zh-CN" altLang="en-US" sz="1050" dirty="0">
              <a:solidFill>
                <a:srgbClr val="6E6E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004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347472" cy="347472"/>
          </a:xfrm>
          <a:prstGeom prst="ellipse">
            <a:avLst/>
          </a:prstGeom>
          <a:solidFill>
            <a:srgbClr val="F2A7BB"/>
          </a:solidFill>
          <a:ln w="12700">
            <a:solidFill>
              <a:srgbClr val="F2A7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07899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STM32F103C8T6 为核心，完成全功能智能茶台设计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1764792"/>
            <a:ext cx="347472" cy="347472"/>
          </a:xfrm>
          <a:prstGeom prst="ellipse">
            <a:avLst/>
          </a:prstGeom>
          <a:solidFill>
            <a:srgbClr val="7DCFB6"/>
          </a:solidFill>
          <a:ln w="12700">
            <a:solidFill>
              <a:srgbClr val="7DCF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647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176479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实现一键启动自动泡茶全流程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450592"/>
            <a:ext cx="347472" cy="347472"/>
          </a:xfrm>
          <a:prstGeom prst="ellipse">
            <a:avLst/>
          </a:prstGeom>
          <a:solidFill>
            <a:srgbClr val="A899D4"/>
          </a:solidFill>
          <a:ln w="12700">
            <a:solidFill>
              <a:srgbClr val="A899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50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45059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称重闭环控制，精准定量投茶与加水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136392"/>
            <a:ext cx="347472" cy="347472"/>
          </a:xfrm>
          <a:prstGeom prst="ellipse">
            <a:avLst/>
          </a:prstGeom>
          <a:solidFill>
            <a:srgbClr val="F4A07A"/>
          </a:solidFill>
          <a:ln w="12700">
            <a:solidFill>
              <a:srgbClr val="F4A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363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13639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TDS 水质 + 红外茶叶量双重安全监测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822192"/>
            <a:ext cx="347472" cy="347472"/>
          </a:xfrm>
          <a:prstGeom prst="ellipse">
            <a:avLst/>
          </a:prstGeom>
          <a:solidFill>
            <a:srgbClr val="78C5E8"/>
          </a:solidFill>
          <a:ln w="12700">
            <a:solidFill>
              <a:srgbClr val="78C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221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82219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系统测试各模块运行稳定，功能达预期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4571873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敬请各位老师批评指正</a:t>
            </a:r>
            <a:endParaRPr lang="en-US" sz="16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5539105" y="1365250"/>
            <a:ext cx="39763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感谢各位的聆听</a:t>
            </a:r>
            <a:endParaRPr lang="zh-CN" altLang="en-US" sz="400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400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400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5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6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7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8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9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0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1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2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3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4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5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6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7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8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19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0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1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2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3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4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5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6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7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8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29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0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1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2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3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4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5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6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7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8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39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0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1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2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3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4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5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6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7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8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49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50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51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52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53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54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55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ags/tag56.xml><?xml version="1.0" encoding="utf-8"?>
<p:tagLst xmlns:p="http://schemas.openxmlformats.org/presentationml/2006/main">
  <p:tag name="KSO_WM_DIAGRAM_VIRTUALLY_FRAME" val="{&quot;height&quot;:316.8,&quot;left&quot;:20.16,&quot;top&quot;:66.24,&quot;width&quot;:683.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1591</Words>
  <Application>WPS 演示</Application>
  <PresentationFormat>On-screen Show (16:9)</PresentationFormat>
  <Paragraphs>337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Calibri</vt:lpstr>
      <vt:lpstr>Calibri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基于STM32智能茶台系统设计</dc:title>
  <dc:creator>吴子嘉</dc:creator>
  <dc:subject>PptxGenJS Presentation</dc:subject>
  <cp:lastModifiedBy>lclclclc</cp:lastModifiedBy>
  <cp:revision>4</cp:revision>
  <dcterms:created xsi:type="dcterms:W3CDTF">2026-05-08T08:38:00Z</dcterms:created>
  <dcterms:modified xsi:type="dcterms:W3CDTF">2026-05-09T07:20:21Z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430E531FC8394BDCA0C3E8AB43E252E6_13</vt:lpwstr>
  </property>
</Properties>
</file>